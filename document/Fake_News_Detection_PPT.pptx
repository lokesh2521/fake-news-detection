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3" r:id="rId3"/>
    <p:sldId id="259" r:id="rId4"/>
    <p:sldId id="261" r:id="rId5"/>
    <p:sldId id="264" r:id="rId6"/>
    <p:sldId id="263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37BE-A920-0411-6118-A3AF8F807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245E0-13FB-9774-972D-5FBE670CE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86B81-E6D0-B8E0-8D7F-1B74CFF4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CD669-38C6-C05D-F585-B14C2072D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DDAA2-891D-B5DB-B7C9-1D6F48F3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21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39D5-54F2-FDB0-6985-A918373A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273A-04E5-D53D-1E55-95FA67E52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E1FD6-8C85-1E71-53C5-1EB24EC6D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EB2DD-7564-B3B7-92A9-5F6966CC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48169-1276-F808-5126-F3D85F10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330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5895-3A4C-AC74-A368-9D32044B2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2A20F-97AB-FDCD-CD29-0E0F0335D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9A12C-B4D2-A0DE-B6DC-E2B415287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95ED6-47FF-7AAD-8C7A-D19F3FAEF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CBD89-47E7-4EEB-16AB-39C9577D5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031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D470-0F31-0E2B-0C29-881615AB6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7D6E2-15E0-D542-FEB7-26CDAD2F0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3240C-B611-BB6D-0145-D9E06D248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FDD47-60D5-79EE-3A0A-9156CF7C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66FA8-684A-3A79-A7EB-A2800852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C07D0-7C55-FAC3-9226-8E604429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348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EB8B-028E-38BE-D47C-3D5A60F8C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AD9FF-274D-FCFF-B845-56CE8D5F9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510F1-2B62-106D-B35D-513B8516C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A1C40-564B-9A08-B931-015FA82FC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570AB-AEEA-51BD-D21C-2C2F768028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6A638-3B5C-5657-06D9-C76CED7A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CDC6A-CFAB-81FE-F1B0-C482ADA1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A069F-A0DC-FFD6-B3CD-1E6AFD59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2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BC53-58A2-CA75-3FCE-5ACC87DF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3C1F7-E319-C4F4-8958-6BED0545B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C86C5-5B13-DED7-D858-D834AF12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B454B-88DB-A2FE-6031-33A6EF6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02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8AF80-0DBD-82F4-D669-8EEC09D3B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5023C-963A-9980-2FF0-E365BA605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743D5-1E57-217B-D144-2853B70A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70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1497-FD03-7813-FBBF-46AEF1D1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B4921-5DA0-BC30-F6CC-D3B9937C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CBF39-3587-CC67-EEAE-E5943410AB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BD209-A158-2B35-81AB-9B9566526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8D43B-1A88-79FB-F4BB-3D757D4C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3570E-7768-2469-C1B6-9E1EB8D2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1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95BD-A2A4-FD3A-B569-C9E9E8D6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ABCCA-DB8B-89DB-00E0-035B6B0E5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90372-AC40-EDB7-0826-FCF7C971C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1A724-BB77-E897-69F8-CC9BA027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19BA9-8052-2F1D-FA37-BF05203A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C6C58-23BE-9518-E91B-DF037736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3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A8FF-CF1A-F973-E829-71AD251B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AA01F-104A-C056-8910-7165A70AB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BB856-CCD7-CA3B-7217-A6DA06B6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E692E-387F-B11E-FA61-ECD26E23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5C4D-5DDB-DE74-BC51-2715F535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271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C3AC7-308F-7F90-A8A4-50EAF4240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6BB31-0B4B-032D-8210-56525C6BC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598-AF55-77F8-35FD-7FFB4387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3ACAA-5120-B506-53A3-EC266528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76195-5427-A344-B69C-7F0557056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19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6941A6-AD3D-A69E-8A87-E9AD1CD3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61C2B-1AE3-15E6-392F-E8F847879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232D5-864E-2B4E-F7B5-D2ABFFFAE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0BDD9-B848-4469-9ED7-42468FD28DC0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00DB5-09B9-13A2-B12B-826956644D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36596-C181-8FFF-1044-27433F320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CA74A-3DDB-439C-8F28-10487DE22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6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1FA940-2C43-6F01-8D72-14288F40120B}"/>
              </a:ext>
            </a:extLst>
          </p:cNvPr>
          <p:cNvSpPr txBox="1"/>
          <p:nvPr/>
        </p:nvSpPr>
        <p:spPr>
          <a:xfrm>
            <a:off x="0" y="1437305"/>
            <a:ext cx="120504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/>
              <a:t>Machine Learning Engineer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F3659-40F5-F0C8-C43B-C9815FCEF2A7}"/>
              </a:ext>
            </a:extLst>
          </p:cNvPr>
          <p:cNvSpPr txBox="1"/>
          <p:nvPr/>
        </p:nvSpPr>
        <p:spPr>
          <a:xfrm>
            <a:off x="1322615" y="2612963"/>
            <a:ext cx="94052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Tachyon Systems </a:t>
            </a:r>
            <a:r>
              <a:rPr lang="en-IN" sz="3200" dirty="0"/>
              <a:t>– Task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24B5F-CC94-60F4-6EBF-3633AB66F3DE}"/>
              </a:ext>
            </a:extLst>
          </p:cNvPr>
          <p:cNvSpPr txBox="1"/>
          <p:nvPr/>
        </p:nvSpPr>
        <p:spPr>
          <a:xfrm>
            <a:off x="8548006" y="5289713"/>
            <a:ext cx="6340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- Lokesh L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01264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BA0B49-4B8B-4546-D019-1A34686FE4B3}"/>
              </a:ext>
            </a:extLst>
          </p:cNvPr>
          <p:cNvSpPr txBox="1"/>
          <p:nvPr/>
        </p:nvSpPr>
        <p:spPr>
          <a:xfrm>
            <a:off x="555171" y="1103017"/>
            <a:ext cx="1140822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sz="3200" b="1" dirty="0"/>
              <a:t>                                                 </a:t>
            </a:r>
            <a:endParaRPr lang="en-US" sz="3500" b="1" dirty="0"/>
          </a:p>
          <a:p>
            <a:pPr algn="ctr" latinLnBrk="1"/>
            <a:r>
              <a:rPr lang="en-IN" sz="4000" b="1" dirty="0"/>
              <a:t>Fake News Detection System</a:t>
            </a:r>
            <a:endParaRPr lang="en-US" sz="3200" b="1" dirty="0"/>
          </a:p>
          <a:p>
            <a:pPr latinLnBrk="1"/>
            <a:endParaRPr lang="en-US" sz="2800" b="1" dirty="0"/>
          </a:p>
          <a:p>
            <a:pPr latinLnBrk="1"/>
            <a:endParaRPr lang="en-US" sz="2800" b="1" dirty="0"/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sz="2800" dirty="0">
                <a:latin typeface="Calibri (Body)"/>
              </a:rPr>
              <a:t>Python &amp; Scikit-learn Implementation</a:t>
            </a:r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IN" sz="2800" dirty="0"/>
              <a:t>Logistic Regression Model</a:t>
            </a:r>
            <a:endParaRPr lang="en-US" sz="2800" dirty="0"/>
          </a:p>
          <a:p>
            <a:pPr marL="342900" indent="-342900" latinLnBrk="1">
              <a:buFont typeface="Arial" panose="020B0604020202020204" pitchFamily="34" charset="0"/>
              <a:buChar char="•"/>
            </a:pPr>
            <a:r>
              <a:rPr lang="en-US" sz="2800" dirty="0"/>
              <a:t>A machine learning system that classifies news articles as REAL or FAKE </a:t>
            </a:r>
          </a:p>
          <a:p>
            <a:pPr latinLnBrk="1"/>
            <a:r>
              <a:rPr lang="en-US" sz="2800" dirty="0"/>
              <a:t>    using Logistic Regression and TF-IDF feature extraction</a:t>
            </a:r>
            <a:r>
              <a:rPr lang="en-US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5540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C1AA-B0A3-07A6-B77A-A73EC044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Calibri (Body)"/>
              </a:rPr>
              <a:t>                         </a:t>
            </a:r>
            <a:r>
              <a:rPr lang="en-IN" sz="4000" b="1" dirty="0">
                <a:latin typeface="Calibri (Body)"/>
              </a:rPr>
              <a:t>DATASET &amp; APPROACH</a:t>
            </a:r>
            <a:br>
              <a:rPr lang="en-IN" b="1" dirty="0">
                <a:latin typeface="Calibri (Body)"/>
              </a:rPr>
            </a:br>
            <a:br>
              <a:rPr lang="en-IN" b="1" dirty="0">
                <a:latin typeface="Calibri (Body)"/>
              </a:rPr>
            </a:br>
            <a:r>
              <a:rPr lang="en-IN" sz="2800" b="1" dirty="0">
                <a:latin typeface="Calibri (Body)"/>
              </a:rPr>
              <a:t>Data &amp; Methodology</a:t>
            </a:r>
            <a:endParaRPr lang="en-IN" sz="2800" dirty="0">
              <a:latin typeface="Calibri (Body)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F0F57-AABE-BB9D-367F-BC4A0038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413" y="1920649"/>
            <a:ext cx="5157787" cy="823912"/>
          </a:xfrm>
        </p:spPr>
        <p:txBody>
          <a:bodyPr>
            <a:normAutofit/>
          </a:bodyPr>
          <a:lstStyle/>
          <a:p>
            <a:r>
              <a:rPr lang="en-IN" sz="2800" dirty="0"/>
              <a:t>Dataset: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26924-C5BE-A032-83B1-F4043B7944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Source: Fake news dataset (Kaggle)</a:t>
            </a:r>
          </a:p>
          <a:p>
            <a:r>
              <a:rPr lang="en-IN" dirty="0"/>
              <a:t>(20800 records, 4 features)</a:t>
            </a:r>
          </a:p>
          <a:p>
            <a:r>
              <a:rPr lang="en-US" dirty="0"/>
              <a:t>Key Features: Title, Author, text,</a:t>
            </a:r>
          </a:p>
          <a:p>
            <a:pPr marL="0" indent="0">
              <a:buNone/>
            </a:pPr>
            <a:r>
              <a:rPr lang="en-US" dirty="0"/>
              <a:t>   label.</a:t>
            </a:r>
          </a:p>
          <a:p>
            <a:r>
              <a:rPr lang="en-US" dirty="0"/>
              <a:t> </a:t>
            </a:r>
            <a:r>
              <a:rPr lang="en-IN" dirty="0"/>
              <a:t>Target: 1 → Fake News </a:t>
            </a:r>
          </a:p>
          <a:p>
            <a:pPr marL="0" indent="0">
              <a:buNone/>
            </a:pPr>
            <a:r>
              <a:rPr lang="en-IN" dirty="0"/>
              <a:t>     0 → Real News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03A8DC-BEE3-35D2-70D9-BFBBD2FE7A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33911" y="1820636"/>
            <a:ext cx="5183188" cy="823912"/>
          </a:xfrm>
        </p:spPr>
        <p:txBody>
          <a:bodyPr>
            <a:normAutofit/>
          </a:bodyPr>
          <a:lstStyle/>
          <a:p>
            <a:r>
              <a:rPr lang="en-IN" sz="2800" dirty="0"/>
              <a:t>Approach: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937E9-14EF-915C-FCFB-217DDD4B0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6825" y="2528207"/>
            <a:ext cx="5183188" cy="3684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Logistic Regression</a:t>
            </a:r>
          </a:p>
          <a:p>
            <a:r>
              <a:rPr lang="en-US" dirty="0"/>
              <a:t>Text preprocessing and TF-IDF vectorization</a:t>
            </a:r>
          </a:p>
          <a:p>
            <a:r>
              <a:rPr lang="en-US" dirty="0"/>
              <a:t>Feature engineering by combining author, title, and text</a:t>
            </a:r>
            <a:endParaRPr lang="en-IN" dirty="0"/>
          </a:p>
          <a:p>
            <a:r>
              <a:rPr lang="en-IN" dirty="0"/>
              <a:t>80-20 train-test split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638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B698-0E64-2C97-5A0A-473504B6B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19119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alibri (Body)"/>
              </a:rPr>
              <a:t>                                     DATA PREPROCESSING </a:t>
            </a:r>
            <a:br>
              <a:rPr lang="en-IN" sz="3200" b="1" dirty="0">
                <a:latin typeface="Calibri (Body)"/>
              </a:rPr>
            </a:br>
            <a:endParaRPr lang="en-IN" sz="3200" b="1" dirty="0">
              <a:latin typeface="Calibri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BB30F-1077-48EC-6C68-CA1B8344C4B1}"/>
              </a:ext>
            </a:extLst>
          </p:cNvPr>
          <p:cNvSpPr txBox="1"/>
          <p:nvPr/>
        </p:nvSpPr>
        <p:spPr>
          <a:xfrm>
            <a:off x="751114" y="1200831"/>
            <a:ext cx="1051559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Data Analysis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Initial dataset: Large volume of news records with text content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Handled missing values using empty string fill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Combined 'author', 'title', and 'text' into a single 'content' feature</a:t>
            </a:r>
          </a:p>
          <a:p>
            <a:pPr latinLnBrk="1"/>
            <a:endParaRPr lang="en-US" sz="2800" b="1" dirty="0"/>
          </a:p>
          <a:p>
            <a:r>
              <a:rPr lang="en-US" sz="2800" b="1" dirty="0"/>
              <a:t>Data Preparation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TF-IDF vectorization for text feature extraction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Removed stop words and applied lowercase filtering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Feature(X) - Target(Y) Separation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Applied Train - Test Split (80% training, 20% testing)</a:t>
            </a:r>
          </a:p>
          <a:p>
            <a:pPr latinLnBrk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8534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15D0-B313-AA32-08A1-2F65E3E7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Calibri (Body)"/>
              </a:rPr>
              <a:t>MODEL SELECTION AND MODEL TRAINING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CF173-EAED-C7DC-088C-F13607160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6845" y="1681163"/>
            <a:ext cx="5157787" cy="823912"/>
          </a:xfrm>
        </p:spPr>
        <p:txBody>
          <a:bodyPr>
            <a:normAutofit/>
          </a:bodyPr>
          <a:lstStyle/>
          <a:p>
            <a:r>
              <a:rPr lang="en-IN" dirty="0"/>
              <a:t>Model selection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88AA0-4898-A033-A587-6CFBDD8EF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388" y="2505075"/>
            <a:ext cx="5183188" cy="3684588"/>
          </a:xfrm>
        </p:spPr>
        <p:txBody>
          <a:bodyPr>
            <a:noAutofit/>
          </a:bodyPr>
          <a:lstStyle/>
          <a:p>
            <a:pPr latinLnBrk="1"/>
            <a:endParaRPr lang="en-US" sz="2500" dirty="0"/>
          </a:p>
          <a:p>
            <a:pPr latinLnBrk="1"/>
            <a:r>
              <a:rPr lang="en-IN" sz="2400" dirty="0"/>
              <a:t>Logistic Regression                                       </a:t>
            </a:r>
          </a:p>
          <a:p>
            <a:pPr marL="0" indent="0" latinLnBrk="1">
              <a:buNone/>
            </a:pPr>
            <a:r>
              <a:rPr lang="en-US" sz="2500" b="1" dirty="0"/>
              <a:t>Why ?</a:t>
            </a:r>
          </a:p>
          <a:p>
            <a:pPr latinLnBrk="1"/>
            <a:r>
              <a:rPr lang="en-US" sz="2500" dirty="0"/>
              <a:t>Effective for binary classification</a:t>
            </a:r>
          </a:p>
          <a:p>
            <a:r>
              <a:rPr lang="en-US" sz="2400" dirty="0"/>
              <a:t>Fast and efficient for text-based datasets</a:t>
            </a:r>
          </a:p>
          <a:p>
            <a:r>
              <a:rPr lang="en-US" sz="2400" dirty="0"/>
              <a:t>It Can handle large text datasets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F151E-1EC3-4FD0-23B8-DAD7C588B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56714" y="1706337"/>
            <a:ext cx="5183188" cy="823912"/>
          </a:xfrm>
        </p:spPr>
        <p:txBody>
          <a:bodyPr>
            <a:normAutofit/>
          </a:bodyPr>
          <a:lstStyle/>
          <a:p>
            <a:r>
              <a:rPr lang="en-IN" dirty="0"/>
              <a:t>Model training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7272F-B6F8-1BB8-8975-6663FC965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5999" y="2545898"/>
            <a:ext cx="5987143" cy="3684588"/>
          </a:xfrm>
        </p:spPr>
        <p:txBody>
          <a:bodyPr>
            <a:noAutofit/>
          </a:bodyPr>
          <a:lstStyle/>
          <a:p>
            <a:pPr marL="0" indent="0" latinLnBrk="1">
              <a:buNone/>
            </a:pPr>
            <a:endParaRPr lang="en-US" sz="2500" dirty="0"/>
          </a:p>
          <a:p>
            <a:pPr marL="0" indent="0" latinLnBrk="1">
              <a:buNone/>
            </a:pPr>
            <a:endParaRPr lang="en-US" sz="2500" dirty="0"/>
          </a:p>
          <a:p>
            <a:pPr latinLnBrk="1"/>
            <a:r>
              <a:rPr lang="en-US" sz="2500" dirty="0"/>
              <a:t> Algorithm: Logistic Regression</a:t>
            </a:r>
          </a:p>
          <a:p>
            <a:r>
              <a:rPr lang="en-US" sz="2500" dirty="0"/>
              <a:t> </a:t>
            </a:r>
            <a:r>
              <a:rPr lang="en-IN" sz="2400" dirty="0"/>
              <a:t>Model trained using TF‑IDF features</a:t>
            </a:r>
          </a:p>
          <a:p>
            <a:r>
              <a:rPr lang="en-IN" sz="2400" dirty="0"/>
              <a:t> Model saved using </a:t>
            </a:r>
            <a:r>
              <a:rPr lang="en-IN" sz="2400" dirty="0" err="1"/>
              <a:t>joblib</a:t>
            </a:r>
            <a:r>
              <a:rPr lang="en-IN" sz="2400" dirty="0"/>
              <a:t> (</a:t>
            </a:r>
            <a:r>
              <a:rPr lang="en-IN" sz="2400" dirty="0" err="1"/>
              <a:t>model.joblib</a:t>
            </a:r>
            <a:r>
              <a:rPr lang="en-IN" sz="2400" dirty="0"/>
              <a:t>, </a:t>
            </a:r>
            <a:r>
              <a:rPr lang="en-IN" sz="2400" dirty="0" err="1"/>
              <a:t>vectorizer.joblib</a:t>
            </a:r>
            <a:r>
              <a:rPr lang="en-IN" sz="2400" dirty="0"/>
              <a:t>)</a:t>
            </a:r>
          </a:p>
          <a:p>
            <a:r>
              <a:rPr lang="en-US" sz="2400" dirty="0"/>
              <a:t>Training Accuracy: High performance achieved</a:t>
            </a:r>
          </a:p>
          <a:p>
            <a:endParaRPr lang="en-IN" sz="2400" dirty="0"/>
          </a:p>
          <a:p>
            <a:pPr marL="0" indent="0">
              <a:buNone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2966628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464A6-B029-B654-6D94-CFB04E61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71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Calibri (Body)"/>
              </a:rPr>
              <a:t>EVALUATION AND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FBEEB1-472B-CB7A-5728-54FEC640C402}"/>
              </a:ext>
            </a:extLst>
          </p:cNvPr>
          <p:cNvSpPr txBox="1"/>
          <p:nvPr/>
        </p:nvSpPr>
        <p:spPr>
          <a:xfrm>
            <a:off x="762000" y="1164134"/>
            <a:ext cx="965562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 (Body)"/>
              </a:rPr>
              <a:t>Used evaluation metrics Accuracy</a:t>
            </a:r>
            <a:br>
              <a:rPr lang="en-US" sz="2800" b="0" i="0" dirty="0">
                <a:effectLst/>
                <a:latin typeface="Calibri (Body)"/>
              </a:rPr>
            </a:br>
            <a:endParaRPr lang="en-US" sz="2800" b="0" i="0" dirty="0">
              <a:effectLst/>
              <a:latin typeface="Calibri (Body)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Training Accuracy: </a:t>
            </a:r>
            <a:r>
              <a:rPr lang="en-IN" sz="2800" dirty="0"/>
              <a:t>97%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Test Accuracy: </a:t>
            </a:r>
            <a:r>
              <a:rPr lang="en-IN" sz="2800" dirty="0"/>
              <a:t> 96%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Model shows excellent generalization capability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Consistent performance across training and test sets</a:t>
            </a:r>
          </a:p>
          <a:p>
            <a:endParaRPr lang="en-US" sz="2800" b="0" i="0" dirty="0">
              <a:effectLst/>
              <a:latin typeface="Calibri (Body)"/>
            </a:endParaRPr>
          </a:p>
          <a:p>
            <a:r>
              <a:rPr lang="en-US" sz="2800" b="1" dirty="0"/>
              <a:t>DEPLOYMENT</a:t>
            </a:r>
          </a:p>
          <a:p>
            <a:endParaRPr lang="en-IN" sz="2800" dirty="0">
              <a:latin typeface="Calibri (Body)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Built using </a:t>
            </a:r>
            <a:r>
              <a:rPr lang="en-US" sz="2800" dirty="0" err="1"/>
              <a:t>FastAPI</a:t>
            </a:r>
            <a:r>
              <a:rPr lang="en-US" sz="2800" dirty="0"/>
              <a:t> for backend service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HTML/CSS frontend for user interaction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Real-time prediction of news authenticity</a:t>
            </a:r>
          </a:p>
          <a:p>
            <a:endParaRPr lang="en-IN" sz="28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44709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0FABD9-F048-2BF7-C40E-F573634909B2}"/>
              </a:ext>
            </a:extLst>
          </p:cNvPr>
          <p:cNvSpPr txBox="1"/>
          <p:nvPr/>
        </p:nvSpPr>
        <p:spPr>
          <a:xfrm>
            <a:off x="4947920" y="2782669"/>
            <a:ext cx="70220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/>
              <a:t>Thank you 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3886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306</Words>
  <Application>Microsoft Office PowerPoint</Application>
  <PresentationFormat>Widescreen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                         DATASET &amp; APPROACH  Data &amp; Methodology</vt:lpstr>
      <vt:lpstr>                                     DATA PREPROCESSING  </vt:lpstr>
      <vt:lpstr>MODEL SELECTION AND MODEL TRAINING </vt:lpstr>
      <vt:lpstr>EVALUATION AND DEPLOYMENT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L</dc:creator>
  <cp:lastModifiedBy>Lokesh L</cp:lastModifiedBy>
  <cp:revision>31</cp:revision>
  <dcterms:created xsi:type="dcterms:W3CDTF">2025-10-06T12:35:39Z</dcterms:created>
  <dcterms:modified xsi:type="dcterms:W3CDTF">2025-11-07T14:31:20Z</dcterms:modified>
</cp:coreProperties>
</file>